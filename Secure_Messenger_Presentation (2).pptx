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CC8"/>
                </a:solidFill>
                <a:latin typeface="Consolas"/>
              </a:rPr>
              <a:t>[ PROJET // CRYPTOGRAPHIE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DCE6F0"/>
                </a:solidFill>
                <a:latin typeface="Calibri"/>
              </a:rPr>
              <a:t>Secure Messenger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00DCC8"/>
                </a:solidFill>
                <a:latin typeface="Calibri"/>
              </a:rPr>
              <a:t>Authentification &amp; chiffrement de bout en bout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2194560" cy="502920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0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DCC8"/>
                </a:solidFill>
                <a:latin typeface="Consolas"/>
              </a:rPr>
              <a:t>scrypt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4023360"/>
            <a:ext cx="2194560" cy="502920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6EF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40233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6EF082"/>
                </a:solidFill>
                <a:latin typeface="Consolas"/>
              </a:rPr>
              <a:t>AES-256-GCM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4023360"/>
            <a:ext cx="2194560" cy="502920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F5C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40233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5C842"/>
                </a:solidFill>
                <a:latin typeface="Consolas"/>
              </a:rPr>
              <a:t>Flask + 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11247120" cy="36576"/>
          </a:xfrm>
          <a:prstGeom prst="rect">
            <a:avLst/>
          </a:prstGeom>
          <a:solidFill>
            <a:srgbClr val="2D3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532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CE6F0"/>
                </a:solidFill>
                <a:latin typeface="Calibri"/>
              </a:rPr>
              <a:t>Yassine Zine El Abidine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291A5"/>
                </a:solidFill>
                <a:latin typeface="Calibri"/>
              </a:rPr>
              <a:t>B1 — Administration Réseaux &amp; Systèmes / Cybersécurité — École 89 Deep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00DCC8"/>
                </a:solidFill>
                <a:latin typeface="Consolas"/>
              </a:rPr>
              <a:t>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54864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CC8"/>
                </a:solidFill>
                <a:latin typeface="Consolas"/>
              </a:rPr>
              <a:t>01 //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CE6F0"/>
                </a:solidFill>
                <a:latin typeface="Calibri"/>
              </a:rPr>
              <a:t>Le projet en deux phrases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6576" cy="201168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DCE6F0"/>
                </a:solidFill>
                <a:latin typeface="Calibri"/>
              </a:rPr>
              <a:t>Squelette Flask + SQLite + Jinja fourni.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8291A5"/>
                </a:solidFill>
                <a:latin typeface="Calibri"/>
              </a:rPr>
              <a:t>Travail attendu : implémenter crypto_utils.py — 4 fonctions, deux objectifs.
Stockage sécurisé des mots de passe + confidentialité &amp; intégrité des messages.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3657600" cy="182880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3657600" cy="54864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CC8"/>
                </a:solidFill>
                <a:latin typeface="Consolas"/>
              </a:rPr>
              <a:t>hash_password
verify_password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6F0"/>
                </a:solidFill>
                <a:latin typeface="Calibri"/>
              </a:rPr>
              <a:t>scrypt + sel
constant-time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4023360"/>
            <a:ext cx="3657600" cy="182880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4023360"/>
            <a:ext cx="3657600" cy="54864"/>
          </a:xfrm>
          <a:prstGeom prst="rect">
            <a:avLst/>
          </a:prstGeom>
          <a:solidFill>
            <a:srgbClr val="6EF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2976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EF082"/>
                </a:solidFill>
                <a:latin typeface="Consolas"/>
              </a:rPr>
              <a:t>encrypt_message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9834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6F0"/>
                </a:solidFill>
                <a:latin typeface="Calibri"/>
              </a:rPr>
              <a:t>AES-256-GCM
nonce 96 bits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023360"/>
            <a:ext cx="3657600" cy="182880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023360"/>
            <a:ext cx="3657600" cy="54864"/>
          </a:xfrm>
          <a:prstGeom prst="rect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2976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C842"/>
                </a:solidFill>
                <a:latin typeface="Consolas"/>
              </a:rPr>
              <a:t>decrypt_message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9834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6F0"/>
                </a:solidFill>
                <a:latin typeface="Calibri"/>
              </a:rPr>
              <a:t>Tag GCM vérifié
intégrité garantie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291A5"/>
                </a:solidFill>
                <a:latin typeface="Consolas"/>
              </a:rPr>
              <a:t>Secure Messenger // Cryptographie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291A5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54864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CC8"/>
                </a:solidFill>
                <a:latin typeface="Consolas"/>
              </a:rPr>
              <a:t>02 // HACHAGE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CE6F0"/>
                </a:solidFill>
                <a:latin typeface="Calibri"/>
              </a:rPr>
              <a:t>scrypt — pourquoi ce choix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760720" cy="123444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4864" cy="123444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CC8"/>
                </a:solidFill>
                <a:latin typeface="Consolas"/>
              </a:rPr>
              <a:t>Memory-hard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Consommation mémoire élevée par calcul → attaques GPU/ASIC nettement moins efficaces que PBKDF2 / bcrypt.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5760720" cy="123444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54864" cy="123444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CC8"/>
                </a:solidFill>
                <a:latin typeface="Consolas"/>
              </a:rPr>
              <a:t>Stdlib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hashlib.scrypt disponible nativement via OpenSSL — aucune dépendance externe pour cette partie.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5760720" cy="123444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54864" cy="123444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434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CC8"/>
                </a:solidFill>
                <a:latin typeface="Consolas"/>
              </a:rPr>
              <a:t>Paramétrable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N, r, p ajustables au matériel disponible (contrairement à MD5/SHA-256 qui sont fixes).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554480"/>
            <a:ext cx="5029200" cy="3703320"/>
          </a:xfrm>
          <a:prstGeom prst="rect">
            <a:avLst/>
          </a:prstGeom>
          <a:solidFill>
            <a:srgbClr val="161C28"/>
          </a:solidFill>
          <a:ln w="12700">
            <a:solidFill>
              <a:srgbClr val="0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6916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CC8"/>
                </a:solidFill>
                <a:latin typeface="Consolas"/>
              </a:rPr>
              <a:t>PARAMÈTRES RETENUS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0574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291A5"/>
                </a:solidFill>
                <a:latin typeface="Calibri"/>
              </a:rPr>
              <a:t>Profil « interactive login » OWASP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6060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  <a:latin typeface="Consolas"/>
              </a:rP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6060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E6F0"/>
                </a:solidFill>
                <a:latin typeface="Consolas"/>
              </a:rPr>
              <a:t>2^15  (32 768)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606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291A5"/>
                </a:solidFill>
                <a:latin typeface="Calibri"/>
              </a:rPr>
              <a:t>facteur CPU/mémoire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9008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  <a:latin typeface="Consolas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99008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E6F0"/>
                </a:solidFill>
                <a:latin typeface="Consolas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99008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291A5"/>
                </a:solidFill>
                <a:latin typeface="Calibri"/>
              </a:rPr>
              <a:t>taille de bloc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7413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  <a:latin typeface="Consolas"/>
              </a:rPr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374136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E6F0"/>
                </a:solidFill>
                <a:latin typeface="Consola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374136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291A5"/>
                </a:solidFill>
                <a:latin typeface="Calibri"/>
              </a:rPr>
              <a:t>parallélisation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5818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  <a:latin typeface="Consolas"/>
              </a:rPr>
              <a:t>dklen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758184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E6F0"/>
                </a:solidFill>
                <a:latin typeface="Consolas"/>
              </a:rPr>
              <a:t>32 octets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75818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291A5"/>
                </a:solidFill>
                <a:latin typeface="Calibri"/>
              </a:rPr>
              <a:t>clé dérivée = 256 bits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14223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  <a:latin typeface="Consolas"/>
              </a:rPr>
              <a:t>salt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414223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E6F0"/>
                </a:solidFill>
                <a:latin typeface="Consolas"/>
              </a:rPr>
              <a:t>16 octets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1422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291A5"/>
                </a:solidFill>
                <a:latin typeface="Calibri"/>
              </a:rPr>
              <a:t>os.urandom — unique/user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5262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C842"/>
                </a:solidFill>
                <a:latin typeface="Consolas"/>
              </a:rPr>
              <a:t>temps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5262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CE6F0"/>
                </a:solidFill>
                <a:latin typeface="Consolas"/>
              </a:rPr>
              <a:t>~100 ms / hash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5262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8291A5"/>
                </a:solidFill>
                <a:latin typeface="Calibri"/>
              </a:rPr>
              <a:t>imperceptible à la connexion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760720"/>
            <a:ext cx="11064240" cy="502920"/>
          </a:xfrm>
          <a:prstGeom prst="rect">
            <a:avLst/>
          </a:prstGeom>
          <a:solidFill>
            <a:srgbClr val="161C28"/>
          </a:solidFill>
          <a:ln w="9525">
            <a:solidFill>
              <a:srgbClr val="6EF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833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CE6F0"/>
                </a:solidFill>
                <a:latin typeface="Calibri"/>
              </a:rPr>
              <a:t>Vérification : hmac.compare_digest()  →  comparaison en temps constant, immunisée aux timing attacks.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291A5"/>
                </a:solidFill>
                <a:latin typeface="Consolas"/>
              </a:rPr>
              <a:t>Secure Messenger // Cryptographie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291A5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548640"/>
          </a:xfrm>
          <a:prstGeom prst="rect">
            <a:avLst/>
          </a:prstGeom>
          <a:solidFill>
            <a:srgbClr val="6EF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F082"/>
                </a:solidFill>
                <a:latin typeface="Consolas"/>
              </a:rPr>
              <a:t>03 // CHIFFREMENT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CE6F0"/>
                </a:solidFill>
                <a:latin typeface="Calibri"/>
              </a:rPr>
              <a:t>AES-256-GCM — un AEAD, trois propriétés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760720" cy="114300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4864" cy="1143000"/>
          </a:xfrm>
          <a:prstGeom prst="rect">
            <a:avLst/>
          </a:prstGeom>
          <a:solidFill>
            <a:srgbClr val="6EF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EF082"/>
                </a:solidFill>
                <a:latin typeface="Consolas"/>
              </a:rPr>
              <a:t>Confidentialité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Impossible de lire le texte clair sans la clé.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5760720" cy="114300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54864" cy="114300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DCC8"/>
                </a:solidFill>
                <a:latin typeface="Consolas"/>
              </a:rPr>
              <a:t>Intégrité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3756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Toute modification du ciphertext est détectée.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69080"/>
            <a:ext cx="5760720" cy="114300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54864" cy="1143000"/>
          </a:xfrm>
          <a:prstGeom prst="rect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C842"/>
                </a:solidFill>
                <a:latin typeface="Consolas"/>
              </a:rPr>
              <a:t>Authenticité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Preuve cryptographique que le ciphertext provient du détenteur de la clé.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600200"/>
            <a:ext cx="5029200" cy="2194560"/>
          </a:xfrm>
          <a:prstGeom prst="rect">
            <a:avLst/>
          </a:prstGeom>
          <a:solidFill>
            <a:srgbClr val="161C28"/>
          </a:solidFill>
          <a:ln w="12700">
            <a:solidFill>
              <a:srgbClr val="FF5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17373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5A6E"/>
                </a:solidFill>
                <a:latin typeface="Consolas"/>
              </a:rPr>
              <a:t>POURQUOI PAS LE RESTE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14884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5A6E"/>
                </a:solidFill>
                <a:latin typeface="Consolas"/>
              </a:rPr>
              <a:t>CTR seul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1488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CE6F0"/>
                </a:solidFill>
                <a:latin typeface="Calibri"/>
              </a:rPr>
              <a:t>confidentialité OK, mais bit-flipping possible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51460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5A6E"/>
                </a:solidFill>
                <a:latin typeface="Consolas"/>
              </a:rPr>
              <a:t>CBC sans HMAC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51460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CE6F0"/>
                </a:solidFill>
                <a:latin typeface="Calibri"/>
              </a:rPr>
              <a:t>même problème — intégrité absente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8803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5A6E"/>
                </a:solidFill>
                <a:latin typeface="Consolas"/>
              </a:rPr>
              <a:t>CBC + HMAC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8803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DCE6F0"/>
                </a:solidFill>
                <a:latin typeface="Calibri"/>
              </a:rPr>
              <a:t>encrypt-then-MAC complexe à implémenter sans bug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29184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DCE6F0"/>
                </a:solidFill>
                <a:latin typeface="Calibri"/>
              </a:rPr>
              <a:t>GCM = standard de facto (TLS 1.3, WPA3, Signal).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931920"/>
            <a:ext cx="5029200" cy="1417320"/>
          </a:xfrm>
          <a:prstGeom prst="rect">
            <a:avLst/>
          </a:prstGeom>
          <a:solidFill>
            <a:srgbClr val="161C28"/>
          </a:solidFill>
          <a:ln w="12700">
            <a:solidFill>
              <a:srgbClr val="6EF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0233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F082"/>
                </a:solidFill>
                <a:latin typeface="Consolas"/>
              </a:rPr>
              <a:t>PARAMÈTRES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3891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  <a:latin typeface="Consolas"/>
              </a:rPr>
              <a:t>clé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38912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onsolas"/>
              </a:rPr>
              <a:t>256 bits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68172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  <a:latin typeface="Consolas"/>
              </a:rPr>
              <a:t>nonce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68172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onsolas"/>
              </a:rPr>
              <a:t>12 octets (NIST SP 800-38D)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974336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  <a:latin typeface="Consolas"/>
              </a:rPr>
              <a:t>tag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97433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onsolas"/>
              </a:rPr>
              <a:t>16 octets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760720"/>
            <a:ext cx="11064240" cy="502920"/>
          </a:xfrm>
          <a:prstGeom prst="rect">
            <a:avLst/>
          </a:prstGeom>
          <a:solidFill>
            <a:srgbClr val="161C28"/>
          </a:solidFill>
          <a:ln w="9525">
            <a:solidFill>
              <a:srgbClr val="0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833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CE6F0"/>
                </a:solidFill>
                <a:latin typeface="Calibri"/>
              </a:rPr>
              <a:t>Nonce généré par os.urandom à chaque message  →  collision sur 96 bits négligeable au volume attendu.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291A5"/>
                </a:solidFill>
                <a:latin typeface="Consolas"/>
              </a:rPr>
              <a:t>Secure Messenger // Cryptographie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291A5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54864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CC8"/>
                </a:solidFill>
                <a:latin typeface="Consolas"/>
              </a:rPr>
              <a:t>04 // IMPLÉMENTATION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CE6F0"/>
                </a:solidFill>
                <a:latin typeface="Calibri"/>
              </a:rPr>
              <a:t>crypto_utils.py — l'essentiel du fichier</a:t>
            </a:r>
          </a:p>
        </p:txBody>
      </p:sp>
      <p:pic>
        <p:nvPicPr>
          <p:cNvPr id="6" name="Picture 5" descr="07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554480"/>
            <a:ext cx="7699248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291A5"/>
                </a:solidFill>
                <a:latin typeface="Consolas"/>
              </a:rPr>
              <a:t>Secure Messenger // Cryptographie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291A5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54864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CC8"/>
                </a:solidFill>
                <a:latin typeface="Consolas"/>
              </a:rPr>
              <a:t>05 // PARCOURS UTILISATEUR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CE6F0"/>
                </a:solidFill>
                <a:latin typeface="Calibri"/>
              </a:rPr>
              <a:t>Inscription &amp; connexion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CC8"/>
                </a:solidFill>
                <a:latin typeface="Consolas"/>
              </a:rPr>
              <a:t>Inscription — scrypt + sel appliqués au mot de passe</a:t>
            </a:r>
          </a:p>
        </p:txBody>
      </p:sp>
      <p:pic>
        <p:nvPicPr>
          <p:cNvPr id="7" name="Picture 6" descr="01_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486400" cy="3257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CC8"/>
                </a:solidFill>
                <a:latin typeface="Consolas"/>
              </a:rPr>
              <a:t>Connexion — comparaison constant-time</a:t>
            </a:r>
          </a:p>
        </p:txBody>
      </p:sp>
      <p:pic>
        <p:nvPicPr>
          <p:cNvPr id="9" name="Picture 8" descr="02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5486400" cy="32575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212080"/>
            <a:ext cx="11064240" cy="91440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212080"/>
            <a:ext cx="54864" cy="91440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DCC8"/>
                </a:solidFill>
                <a:latin typeface="Consolas"/>
              </a:rPr>
              <a:t>Côté serveur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692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À l'inscription : sel aléatoire + scrypt(password, salt) → (salt, pw_hash) stockés.   À la connexion : récupération du sel, recalcul, hmac.compare_digest.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291A5"/>
                </a:solidFill>
                <a:latin typeface="Consolas"/>
              </a:rPr>
              <a:t>Secure Messenger // Cryptographie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291A5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548640"/>
          </a:xfrm>
          <a:prstGeom prst="rect">
            <a:avLst/>
          </a:prstGeom>
          <a:solidFill>
            <a:srgbClr val="6EF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F082"/>
                </a:solidFill>
                <a:latin typeface="Consolas"/>
              </a:rPr>
              <a:t>06 // MESSAGERIE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CE6F0"/>
                </a:solidFill>
                <a:latin typeface="Calibri"/>
              </a:rPr>
              <a:t>Envoi chiffré &amp; inbox déchiffrée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F082"/>
                </a:solidFill>
                <a:latin typeface="Consolas"/>
              </a:rPr>
              <a:t>Alice envoie — chiffré AES-256-GCM avant écriture en base</a:t>
            </a:r>
          </a:p>
        </p:txBody>
      </p:sp>
      <p:pic>
        <p:nvPicPr>
          <p:cNvPr id="7" name="Picture 6" descr="03_s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486400" cy="3257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EF082"/>
                </a:solidFill>
                <a:latin typeface="Consolas"/>
              </a:rPr>
              <a:t>Bob reçoit — tag GCM vérifié à chaque message</a:t>
            </a:r>
          </a:p>
        </p:txBody>
      </p:sp>
      <p:pic>
        <p:nvPicPr>
          <p:cNvPr id="9" name="Picture 8" descr="04_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5486400" cy="32575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40080" y="5212080"/>
            <a:ext cx="11064240" cy="914400"/>
          </a:xfrm>
          <a:prstGeom prst="rect">
            <a:avLst/>
          </a:prstGeom>
          <a:solidFill>
            <a:srgbClr val="161C28"/>
          </a:solidFill>
          <a:ln w="9525">
            <a:solidFill>
              <a:srgbClr val="2D37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212080"/>
            <a:ext cx="54864" cy="914400"/>
          </a:xfrm>
          <a:prstGeom prst="rect">
            <a:avLst/>
          </a:prstGeom>
          <a:solidFill>
            <a:srgbClr val="6EF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EF082"/>
                </a:solidFill>
                <a:latin typeface="Consolas"/>
              </a:rPr>
              <a:t>Pipeline de bout en bout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692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encrypt_message → (nonce, ciphertext, tag) stockés en BLOB.   decrypt_message lève InvalidTag si le ciphertext ou le tag ont été altérés.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291A5"/>
                </a:solidFill>
                <a:latin typeface="Consolas"/>
              </a:rPr>
              <a:t>Secure Messenger // Cryptographie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291A5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548640"/>
          </a:xfrm>
          <a:prstGeom prst="rect">
            <a:avLst/>
          </a:prstGeom>
          <a:solidFill>
            <a:srgbClr val="F5C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C842"/>
                </a:solidFill>
                <a:latin typeface="Consolas"/>
              </a:rPr>
              <a:t>07 // PREUVE PAR LA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CE6F0"/>
                </a:solidFill>
                <a:latin typeface="Calibri"/>
              </a:rPr>
              <a:t>Dump SQLite : aucun secret lisible</a:t>
            </a:r>
          </a:p>
        </p:txBody>
      </p:sp>
      <p:pic>
        <p:nvPicPr>
          <p:cNvPr id="6" name="Picture 5" descr="05_sq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508760"/>
            <a:ext cx="7077456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943600"/>
            <a:ext cx="3657600" cy="502920"/>
          </a:xfrm>
          <a:prstGeom prst="rect">
            <a:avLst/>
          </a:prstGeom>
          <a:solidFill>
            <a:srgbClr val="161C28"/>
          </a:solidFill>
          <a:ln w="9525">
            <a:solidFill>
              <a:srgbClr val="F5C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9984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C842"/>
                </a:solidFill>
                <a:latin typeface="Consolas"/>
              </a:rPr>
              <a:t>salt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996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291A5"/>
                </a:solidFill>
                <a:latin typeface="Calibri"/>
              </a:rPr>
              <a:t>16 octets hex aléatoires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5943600"/>
            <a:ext cx="3657600" cy="502920"/>
          </a:xfrm>
          <a:prstGeom prst="rect">
            <a:avLst/>
          </a:prstGeom>
          <a:solidFill>
            <a:srgbClr val="161C28"/>
          </a:solidFill>
          <a:ln w="9525">
            <a:solidFill>
              <a:srgbClr val="FF5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9984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5A6E"/>
                </a:solidFill>
                <a:latin typeface="Consolas"/>
              </a:rPr>
              <a:t>password_hash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1996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291A5"/>
                </a:solidFill>
                <a:latin typeface="Calibri"/>
              </a:rPr>
              <a:t>32 octets dérivés (scrypt)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5943600"/>
            <a:ext cx="3657600" cy="502920"/>
          </a:xfrm>
          <a:prstGeom prst="rect">
            <a:avLst/>
          </a:prstGeom>
          <a:solidFill>
            <a:srgbClr val="161C28"/>
          </a:solidFill>
          <a:ln w="9525">
            <a:solidFill>
              <a:srgbClr val="0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59984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CC8"/>
                </a:solidFill>
                <a:latin typeface="Consolas"/>
              </a:rPr>
              <a:t>ciphertext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61996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291A5"/>
                </a:solidFill>
                <a:latin typeface="Calibri"/>
              </a:rPr>
              <a:t>AES-256-GCM, illisible sans clé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291A5"/>
                </a:solidFill>
                <a:latin typeface="Consolas"/>
              </a:rPr>
              <a:t>Secure Messenger // Cryptographie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291A5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548640"/>
          </a:xfrm>
          <a:prstGeom prst="rect">
            <a:avLst/>
          </a:prstGeom>
          <a:solidFill>
            <a:srgbClr val="FF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5A6E"/>
                </a:solidFill>
                <a:latin typeface="Consolas"/>
              </a:rPr>
              <a:t>08 // DÉMO D'ATTAQUE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CE6F0"/>
                </a:solidFill>
                <a:latin typeface="Calibri"/>
              </a:rPr>
              <a:t>Dictionnaire : MD5 sans sel vs scrypt + sel</a:t>
            </a:r>
          </a:p>
        </p:txBody>
      </p:sp>
      <p:pic>
        <p:nvPicPr>
          <p:cNvPr id="6" name="Picture 5" descr="06_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8229600" cy="488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0" y="1417320"/>
            <a:ext cx="2606040" cy="1920240"/>
          </a:xfrm>
          <a:prstGeom prst="rect">
            <a:avLst/>
          </a:prstGeom>
          <a:solidFill>
            <a:srgbClr val="161C28"/>
          </a:solidFill>
          <a:ln w="19050">
            <a:solidFill>
              <a:srgbClr val="FF5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5544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5A6E"/>
                </a:solidFill>
                <a:latin typeface="Consolas"/>
              </a:rPr>
              <a:t>MD5 SANS SEL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92024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FF5A6E"/>
                </a:solidFill>
                <a:latin typeface="Calibri"/>
              </a:rPr>
              <a:t>~1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7432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291A5"/>
                </a:solidFill>
                <a:latin typeface="Calibri"/>
              </a:rPr>
              <a:t>hashes / seconde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9718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FF5A6E"/>
                </a:solidFill>
                <a:latin typeface="Calibri"/>
              </a:rPr>
              <a:t>→ casse instantanée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3520440"/>
            <a:ext cx="2606040" cy="1920240"/>
          </a:xfrm>
          <a:prstGeom prst="rect">
            <a:avLst/>
          </a:prstGeom>
          <a:solidFill>
            <a:srgbClr val="161C28"/>
          </a:solidFill>
          <a:ln w="19050">
            <a:solidFill>
              <a:srgbClr val="6EF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65760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6EF082"/>
                </a:solidFill>
                <a:latin typeface="Consolas"/>
              </a:rPr>
              <a:t>SCRYPT + 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02336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6EF082"/>
                </a:solidFill>
                <a:latin typeface="Calibri"/>
              </a:rPr>
              <a:t>~10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8463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291A5"/>
                </a:solidFill>
                <a:latin typeface="Calibri"/>
              </a:rPr>
              <a:t>hashes / seconde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0749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EF082"/>
                </a:solidFill>
                <a:latin typeface="Calibri"/>
              </a:rPr>
              <a:t>→ ~3,7 ans / utilisateur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989320"/>
            <a:ext cx="11064240" cy="502920"/>
          </a:xfrm>
          <a:prstGeom prst="rect">
            <a:avLst/>
          </a:prstGeom>
          <a:solidFill>
            <a:srgbClr val="161C28"/>
          </a:solidFill>
          <a:ln w="12700">
            <a:solidFill>
              <a:srgbClr val="F5C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60533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C842"/>
                </a:solidFill>
                <a:latin typeface="Calibri"/>
              </a:rPr>
              <a:t>Facteur ~ 100 000× par hash, multiplié par N utilisateurs grâce au sel unique  →  rainbow tables défaites.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291A5"/>
                </a:solidFill>
                <a:latin typeface="Consolas"/>
              </a:rPr>
              <a:t>Secure Messenger // Cryptographie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291A5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54864" cy="54864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DCC8"/>
                </a:solidFill>
                <a:latin typeface="Consolas"/>
              </a:rPr>
              <a:t>09 // 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DCE6F0"/>
                </a:solidFill>
                <a:latin typeface="Calibri"/>
              </a:rPr>
              <a:t>Ce qui est livré &amp; ce qui suit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486400" cy="4480560"/>
          </a:xfrm>
          <a:prstGeom prst="rect">
            <a:avLst/>
          </a:prstGeom>
          <a:solidFill>
            <a:srgbClr val="161C28"/>
          </a:solidFill>
          <a:ln w="12700">
            <a:solidFill>
              <a:srgbClr val="6EF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EF082"/>
                </a:solidFill>
                <a:latin typeface="Consolas"/>
              </a:rPr>
              <a:t>LIVRÉ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EF082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6F0"/>
                </a:solidFill>
                <a:latin typeface="Calibri"/>
              </a:rPr>
              <a:t>Mots de passe protégés par KDF memory-hard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EF082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6F0"/>
                </a:solidFill>
                <a:latin typeface="Calibri"/>
              </a:rPr>
              <a:t>Sel unique par utilisateur, 16 octets CSPRNG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EF082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375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6F0"/>
                </a:solidFill>
                <a:latin typeface="Calibri"/>
              </a:rPr>
              <a:t>Comparaison constant-time (hmac.compare_digest)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EF082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319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6F0"/>
                </a:solidFill>
                <a:latin typeface="Calibri"/>
              </a:rPr>
              <a:t>AEAD AES-256-GCM : confidentialité + intégrité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EF082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52628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6F0"/>
                </a:solidFill>
                <a:latin typeface="Calibri"/>
              </a:rPr>
              <a:t>Nonce aléatoire 96 bits par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6EF08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1206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CE6F0"/>
                </a:solidFill>
                <a:latin typeface="Calibri"/>
              </a:rPr>
              <a:t>Démonstration mesurée : ~100 000× plus coûteux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554480"/>
            <a:ext cx="5303520" cy="4480560"/>
          </a:xfrm>
          <a:prstGeom prst="rect">
            <a:avLst/>
          </a:prstGeom>
          <a:solidFill>
            <a:srgbClr val="161C28"/>
          </a:solidFill>
          <a:ln w="12700">
            <a:solidFill>
              <a:srgbClr val="0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691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DCC8"/>
                </a:solidFill>
                <a:latin typeface="Consolas"/>
              </a:rPr>
              <a:t>PROCHAINES ÉTAPES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194560"/>
            <a:ext cx="1097280" cy="365760"/>
          </a:xfrm>
          <a:prstGeom prst="rect">
            <a:avLst/>
          </a:prstGeom>
          <a:solidFill>
            <a:srgbClr val="0C1018"/>
          </a:solidFill>
          <a:ln w="9525">
            <a:solidFill>
              <a:srgbClr val="0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2219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DCC8"/>
                </a:solidFill>
                <a:latin typeface="Consolas"/>
              </a:rPr>
              <a:t>TLS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22199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Reverse proxy Caddy/nginx — canal HTTPS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788920"/>
            <a:ext cx="1097280" cy="365760"/>
          </a:xfrm>
          <a:prstGeom prst="rect">
            <a:avLst/>
          </a:prstGeom>
          <a:solidFill>
            <a:srgbClr val="0C1018"/>
          </a:solidFill>
          <a:ln w="9525">
            <a:solidFill>
              <a:srgbClr val="0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81635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DCC8"/>
                </a:solidFill>
                <a:latin typeface="Consolas"/>
              </a:rPr>
              <a:t>KMS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81635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Clé maître externalisée (Vault, AWS KMS)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383280"/>
            <a:ext cx="1097280" cy="365760"/>
          </a:xfrm>
          <a:prstGeom prst="rect">
            <a:avLst/>
          </a:prstGeom>
          <a:solidFill>
            <a:srgbClr val="0C1018"/>
          </a:solidFill>
          <a:ln w="9525">
            <a:solidFill>
              <a:srgbClr val="0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41071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DCC8"/>
                </a:solidFill>
                <a:latin typeface="Consolas"/>
              </a:rPr>
              <a:t>E2E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41071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X25519 + double ratchet style Signal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977640"/>
            <a:ext cx="1097280" cy="365760"/>
          </a:xfrm>
          <a:prstGeom prst="rect">
            <a:avLst/>
          </a:prstGeom>
          <a:solidFill>
            <a:srgbClr val="0C1018"/>
          </a:solidFill>
          <a:ln w="9525">
            <a:solidFill>
              <a:srgbClr val="0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00507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DCC8"/>
                </a:solidFill>
                <a:latin typeface="Consolas"/>
              </a:rPr>
              <a:t>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400507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zxcvbn à l'inscription pour bloquer les mdp triviaux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572000"/>
            <a:ext cx="1097280" cy="365760"/>
          </a:xfrm>
          <a:prstGeom prst="rect">
            <a:avLst/>
          </a:prstGeom>
          <a:solidFill>
            <a:srgbClr val="0C1018"/>
          </a:solidFill>
          <a:ln w="9525">
            <a:solidFill>
              <a:srgbClr val="00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59943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DCC8"/>
                </a:solidFill>
                <a:latin typeface="Consolas"/>
              </a:rPr>
              <a:t>Rate-limit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599432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DCE6F0"/>
                </a:solidFill>
                <a:latin typeface="Calibri"/>
              </a:rPr>
              <a:t>Flask-Limiter sur /login (anti brute-force en ligne)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126480"/>
            <a:ext cx="11064240" cy="411480"/>
          </a:xfrm>
          <a:prstGeom prst="rect">
            <a:avLst/>
          </a:prstGeom>
          <a:solidFill>
            <a:srgbClr val="00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6163056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C1018"/>
                </a:solidFill>
                <a:latin typeface="Consolas"/>
              </a:rPr>
              <a:t>Yassine Zine El Abidine   //   École 89 Deep Tech   //   B1 — Cybersécurité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291A5"/>
                </a:solidFill>
                <a:latin typeface="Consolas"/>
              </a:rPr>
              <a:t>Secure Messenger // Cryptographie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291A5"/>
                </a:solidFill>
                <a:latin typeface="Consola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